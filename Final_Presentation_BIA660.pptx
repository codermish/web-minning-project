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4"/>
  </p:notesMasterIdLst>
  <p:sldIdLst>
    <p:sldId id="256" r:id="rId2"/>
    <p:sldId id="257" r:id="rId3"/>
    <p:sldId id="259" r:id="rId4"/>
    <p:sldId id="272" r:id="rId5"/>
    <p:sldId id="258" r:id="rId6"/>
    <p:sldId id="262" r:id="rId7"/>
    <p:sldId id="263" r:id="rId8"/>
    <p:sldId id="274" r:id="rId9"/>
    <p:sldId id="270" r:id="rId10"/>
    <p:sldId id="264" r:id="rId11"/>
    <p:sldId id="277" r:id="rId12"/>
    <p:sldId id="286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ExtraBold" panose="00000900000000000000" pitchFamily="2" charset="0"/>
      <p:bold r:id="rId19"/>
      <p:boldItalic r:id="rId20"/>
    </p:embeddedFont>
    <p:embeddedFont>
      <p:font typeface="Montserrat ExtraLight" panose="00000300000000000000" pitchFamily="2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532"/>
    <a:srgbClr val="021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439023-9565-4677-89DC-DC50251E56DB}">
  <a:tblStyle styleId="{24439023-9565-4677-89DC-DC50251E56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7f9262ee2f_0_26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7f9262ee2f_0_26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f9262ee2f_0_24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7f9262ee2f_0_24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7f9262ee2f_0_26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7f9262ee2f_0_26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7f9262ee2f_0_26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7f9262ee2f_0_26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>
            <a:spLocks noGrp="1"/>
          </p:cNvSpPr>
          <p:nvPr>
            <p:ph type="title" hasCustomPrompt="1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title" idx="2" hasCustomPrompt="1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title" idx="4" hasCustomPrompt="1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>
            <a:spLocks noGrp="1"/>
          </p:cNvSpPr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ubTitle" idx="1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3" r:id="rId9"/>
    <p:sldLayoutId id="2147483664" r:id="rId10"/>
    <p:sldLayoutId id="2147483666" r:id="rId11"/>
    <p:sldLayoutId id="2147483668" r:id="rId12"/>
    <p:sldLayoutId id="2147483672" r:id="rId13"/>
    <p:sldLayoutId id="214748367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059021" y="1745918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Resume Based Job Recommender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3133933" y="3202761"/>
            <a:ext cx="2876133" cy="13623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Members: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Anugya Sharma</a:t>
            </a:r>
            <a:br>
              <a:rPr lang="en-US" sz="1500" dirty="0"/>
            </a:br>
            <a:r>
              <a:rPr lang="en-US" sz="1500" dirty="0"/>
              <a:t>Yash Shah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Jash Shah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Maaruthi Kunchala</a:t>
            </a:r>
            <a:br>
              <a:rPr lang="en-US" dirty="0"/>
            </a:b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824771" y="2390618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B I A 660-A (TEAM 2)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>
            <a:cxnSpLocks/>
          </p:cNvCxnSpPr>
          <p:nvPr/>
        </p:nvCxnSpPr>
        <p:spPr>
          <a:xfrm>
            <a:off x="3073621" y="2368645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869072" y="754408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Problem Statement</a:t>
            </a:r>
            <a:endParaRPr sz="3000"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869072" y="1630656"/>
            <a:ext cx="7172100" cy="2308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Manual job search is time-consuming and inefficient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Resumes rarely align with job postings automatically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Users miss relevant roles due to lack of filtering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Recruiters face poor candidate-job fit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Automation is needed to personalize job search</a:t>
            </a:r>
          </a:p>
        </p:txBody>
      </p:sp>
      <p:cxnSp>
        <p:nvCxnSpPr>
          <p:cNvPr id="172" name="Google Shape;172;p39"/>
          <p:cNvCxnSpPr/>
          <p:nvPr/>
        </p:nvCxnSpPr>
        <p:spPr>
          <a:xfrm>
            <a:off x="994548" y="754408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70;p39">
            <a:extLst>
              <a:ext uri="{FF2B5EF4-FFF2-40B4-BE49-F238E27FC236}">
                <a16:creationId xmlns:a16="http://schemas.microsoft.com/office/drawing/2014/main" id="{E998E9E1-4E44-077C-3E87-C4029A22D219}"/>
              </a:ext>
            </a:extLst>
          </p:cNvPr>
          <p:cNvSpPr txBox="1">
            <a:spLocks/>
          </p:cNvSpPr>
          <p:nvPr/>
        </p:nvSpPr>
        <p:spPr>
          <a:xfrm>
            <a:off x="4578876" y="805328"/>
            <a:ext cx="3726351" cy="9414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N" sz="3000" b="0" dirty="0">
                <a:solidFill>
                  <a:schemeClr val="accent1"/>
                </a:solidFill>
              </a:rPr>
              <a:t>Project Objective</a:t>
            </a:r>
          </a:p>
        </p:txBody>
      </p:sp>
      <p:cxnSp>
        <p:nvCxnSpPr>
          <p:cNvPr id="9" name="Google Shape;172;p39">
            <a:extLst>
              <a:ext uri="{FF2B5EF4-FFF2-40B4-BE49-F238E27FC236}">
                <a16:creationId xmlns:a16="http://schemas.microsoft.com/office/drawing/2014/main" id="{8E0A2DDA-A521-6468-DF1C-8030FBC9B2AB}"/>
              </a:ext>
            </a:extLst>
          </p:cNvPr>
          <p:cNvCxnSpPr>
            <a:cxnSpLocks/>
          </p:cNvCxnSpPr>
          <p:nvPr/>
        </p:nvCxnSpPr>
        <p:spPr>
          <a:xfrm>
            <a:off x="4683726" y="805328"/>
            <a:ext cx="379338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110B2D-A7DB-5347-385D-3A27BF95F5DE}"/>
              </a:ext>
            </a:extLst>
          </p:cNvPr>
          <p:cNvSpPr txBox="1"/>
          <p:nvPr/>
        </p:nvSpPr>
        <p:spPr>
          <a:xfrm>
            <a:off x="4008234" y="1746728"/>
            <a:ext cx="4922635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Automate job recommendations using resume parsing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Scrape live job listings from trusted portals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Use regex to extract technical skills from resumes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Match resumes to jobs based on skills overlap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Present ranked jobs in a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Technology Stack</a:t>
            </a:r>
            <a:endParaRPr sz="3000" dirty="0"/>
          </a:p>
        </p:txBody>
      </p:sp>
      <p:cxnSp>
        <p:nvCxnSpPr>
          <p:cNvPr id="1956" name="Google Shape;1956;p54"/>
          <p:cNvCxnSpPr>
            <a:cxnSpLocks/>
          </p:cNvCxnSpPr>
          <p:nvPr/>
        </p:nvCxnSpPr>
        <p:spPr>
          <a:xfrm>
            <a:off x="275008" y="2859300"/>
            <a:ext cx="838085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7" name="Google Shape;1957;p54"/>
          <p:cNvSpPr txBox="1">
            <a:spLocks noGrp="1"/>
          </p:cNvSpPr>
          <p:nvPr>
            <p:ph type="title" idx="4294967295"/>
          </p:nvPr>
        </p:nvSpPr>
        <p:spPr>
          <a:xfrm>
            <a:off x="275008" y="2097688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Python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58" name="Google Shape;1958;p54"/>
          <p:cNvSpPr txBox="1">
            <a:spLocks noGrp="1"/>
          </p:cNvSpPr>
          <p:nvPr>
            <p:ph type="subTitle" idx="4294967295"/>
          </p:nvPr>
        </p:nvSpPr>
        <p:spPr>
          <a:xfrm>
            <a:off x="275008" y="3157251"/>
            <a:ext cx="1527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Backend / NLP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59" name="Google Shape;1959;p54"/>
          <p:cNvSpPr txBox="1">
            <a:spLocks noGrp="1"/>
          </p:cNvSpPr>
          <p:nvPr>
            <p:ph type="title" idx="4294967295"/>
          </p:nvPr>
        </p:nvSpPr>
        <p:spPr>
          <a:xfrm>
            <a:off x="3709159" y="2102984"/>
            <a:ext cx="158851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BeautifulSoup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60" name="Google Shape;1960;p54"/>
          <p:cNvSpPr txBox="1">
            <a:spLocks noGrp="1"/>
          </p:cNvSpPr>
          <p:nvPr>
            <p:ph type="subTitle" idx="4294967295"/>
          </p:nvPr>
        </p:nvSpPr>
        <p:spPr>
          <a:xfrm>
            <a:off x="3739764" y="3204532"/>
            <a:ext cx="1664474" cy="387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lt1"/>
                </a:solidFill>
              </a:rPr>
              <a:t>Web scrapping</a:t>
            </a:r>
            <a:endParaRPr sz="14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61" name="Google Shape;1961;p54"/>
          <p:cNvSpPr txBox="1">
            <a:spLocks noGrp="1"/>
          </p:cNvSpPr>
          <p:nvPr>
            <p:ph type="subTitle" idx="4294967295"/>
          </p:nvPr>
        </p:nvSpPr>
        <p:spPr>
          <a:xfrm>
            <a:off x="1938798" y="3147174"/>
            <a:ext cx="1664475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Interactive Web Dashboard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62" name="Google Shape;1962;p54"/>
          <p:cNvSpPr txBox="1">
            <a:spLocks noGrp="1"/>
          </p:cNvSpPr>
          <p:nvPr>
            <p:ph type="title" idx="4294967295"/>
          </p:nvPr>
        </p:nvSpPr>
        <p:spPr>
          <a:xfrm>
            <a:off x="2007386" y="2099492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Streamlit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63" name="Google Shape;1963;p54"/>
          <p:cNvSpPr txBox="1">
            <a:spLocks noGrp="1"/>
          </p:cNvSpPr>
          <p:nvPr>
            <p:ph type="subTitle" idx="4294967295"/>
          </p:nvPr>
        </p:nvSpPr>
        <p:spPr>
          <a:xfrm>
            <a:off x="5677217" y="3204532"/>
            <a:ext cx="1527300" cy="387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>
                <a:solidFill>
                  <a:schemeClr val="lt1"/>
                </a:solidFill>
              </a:rPr>
              <a:t>Libraries</a:t>
            </a: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64" name="Google Shape;1964;p54"/>
          <p:cNvSpPr txBox="1">
            <a:spLocks noGrp="1"/>
          </p:cNvSpPr>
          <p:nvPr>
            <p:ph type="title" idx="4294967295"/>
          </p:nvPr>
        </p:nvSpPr>
        <p:spPr>
          <a:xfrm>
            <a:off x="5609314" y="1667470"/>
            <a:ext cx="1527300" cy="7769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1400" dirty="0"/>
              <a:t>PyPDF2, python-docx, pandas, re</a:t>
            </a:r>
            <a:br>
              <a:rPr lang="en-IN" sz="1400" dirty="0"/>
            </a:br>
            <a:endParaRPr sz="1400" dirty="0">
              <a:solidFill>
                <a:schemeClr val="lt1"/>
              </a:solidFill>
            </a:endParaRPr>
          </a:p>
        </p:txBody>
      </p:sp>
      <p:sp>
        <p:nvSpPr>
          <p:cNvPr id="1965" name="Google Shape;1965;p54"/>
          <p:cNvSpPr/>
          <p:nvPr/>
        </p:nvSpPr>
        <p:spPr>
          <a:xfrm>
            <a:off x="910611" y="2769725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54"/>
          <p:cNvSpPr/>
          <p:nvPr/>
        </p:nvSpPr>
        <p:spPr>
          <a:xfrm>
            <a:off x="2662286" y="2769725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54"/>
          <p:cNvSpPr/>
          <p:nvPr/>
        </p:nvSpPr>
        <p:spPr>
          <a:xfrm>
            <a:off x="4396300" y="2772044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54"/>
          <p:cNvSpPr/>
          <p:nvPr/>
        </p:nvSpPr>
        <p:spPr>
          <a:xfrm>
            <a:off x="6267503" y="277574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69" name="Google Shape;1969;p54"/>
          <p:cNvCxnSpPr>
            <a:cxnSpLocks/>
          </p:cNvCxnSpPr>
          <p:nvPr/>
        </p:nvCxnSpPr>
        <p:spPr>
          <a:xfrm>
            <a:off x="1026200" y="414022"/>
            <a:ext cx="405456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1963;p54">
            <a:extLst>
              <a:ext uri="{FF2B5EF4-FFF2-40B4-BE49-F238E27FC236}">
                <a16:creationId xmlns:a16="http://schemas.microsoft.com/office/drawing/2014/main" id="{701BB219-4B6B-52F1-F5B9-0D7C4370F449}"/>
              </a:ext>
            </a:extLst>
          </p:cNvPr>
          <p:cNvSpPr txBox="1">
            <a:spLocks/>
          </p:cNvSpPr>
          <p:nvPr/>
        </p:nvSpPr>
        <p:spPr>
          <a:xfrm>
            <a:off x="7204517" y="3204532"/>
            <a:ext cx="1527300" cy="45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en-US" sz="1400" dirty="0">
                <a:solidFill>
                  <a:schemeClr val="lt1"/>
                </a:solidFill>
              </a:rPr>
              <a:t>Target Websites</a:t>
            </a:r>
          </a:p>
        </p:txBody>
      </p:sp>
      <p:sp>
        <p:nvSpPr>
          <p:cNvPr id="5" name="Google Shape;1964;p54">
            <a:extLst>
              <a:ext uri="{FF2B5EF4-FFF2-40B4-BE49-F238E27FC236}">
                <a16:creationId xmlns:a16="http://schemas.microsoft.com/office/drawing/2014/main" id="{FD0904E7-80E4-0FC9-EE02-447CF4FCB6CA}"/>
              </a:ext>
            </a:extLst>
          </p:cNvPr>
          <p:cNvSpPr txBox="1">
            <a:spLocks/>
          </p:cNvSpPr>
          <p:nvPr/>
        </p:nvSpPr>
        <p:spPr>
          <a:xfrm>
            <a:off x="7204517" y="1904819"/>
            <a:ext cx="1527300" cy="54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IN" sz="1400" dirty="0"/>
              <a:t>RemoteOK, Remotive.io</a:t>
            </a:r>
          </a:p>
        </p:txBody>
      </p:sp>
      <p:sp>
        <p:nvSpPr>
          <p:cNvPr id="6" name="Google Shape;1968;p54">
            <a:extLst>
              <a:ext uri="{FF2B5EF4-FFF2-40B4-BE49-F238E27FC236}">
                <a16:creationId xmlns:a16="http://schemas.microsoft.com/office/drawing/2014/main" id="{78B6F815-E78D-4A85-2679-F26D6C68EC13}"/>
              </a:ext>
            </a:extLst>
          </p:cNvPr>
          <p:cNvSpPr/>
          <p:nvPr/>
        </p:nvSpPr>
        <p:spPr>
          <a:xfrm>
            <a:off x="7862706" y="277574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70;p39">
            <a:extLst>
              <a:ext uri="{FF2B5EF4-FFF2-40B4-BE49-F238E27FC236}">
                <a16:creationId xmlns:a16="http://schemas.microsoft.com/office/drawing/2014/main" id="{432CED86-B395-509D-FCBE-85B3DF644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6295" y="1617852"/>
            <a:ext cx="5131245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>
                <a:solidFill>
                  <a:schemeClr val="accent1"/>
                </a:solidFill>
              </a:rPr>
              <a:t>Resume Parsing Module</a:t>
            </a:r>
          </a:p>
        </p:txBody>
      </p:sp>
      <p:cxnSp>
        <p:nvCxnSpPr>
          <p:cNvPr id="21" name="Google Shape;172;p39">
            <a:extLst>
              <a:ext uri="{FF2B5EF4-FFF2-40B4-BE49-F238E27FC236}">
                <a16:creationId xmlns:a16="http://schemas.microsoft.com/office/drawing/2014/main" id="{A83974FB-8877-423A-7A28-1A2E97BEB5C9}"/>
              </a:ext>
            </a:extLst>
          </p:cNvPr>
          <p:cNvCxnSpPr>
            <a:cxnSpLocks/>
          </p:cNvCxnSpPr>
          <p:nvPr/>
        </p:nvCxnSpPr>
        <p:spPr>
          <a:xfrm>
            <a:off x="1636296" y="1617852"/>
            <a:ext cx="418011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4C7B55A-53BB-1052-B295-322AED9C3897}"/>
              </a:ext>
            </a:extLst>
          </p:cNvPr>
          <p:cNvSpPr txBox="1"/>
          <p:nvPr/>
        </p:nvSpPr>
        <p:spPr>
          <a:xfrm>
            <a:off x="1636295" y="2208188"/>
            <a:ext cx="7012692" cy="212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/>
            </a:pPr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</a:rPr>
              <a:t>Supports DOCX and PDF formats</a:t>
            </a:r>
          </a:p>
          <a:p>
            <a:pPr marL="342900" indent="-342900" algn="l">
              <a:lnSpc>
                <a:spcPct val="150000"/>
              </a:lnSpc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/>
            </a:pPr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</a:rPr>
              <a:t>Extracts all text content using PyPDF2 and python-docx</a:t>
            </a:r>
          </a:p>
          <a:p>
            <a:pPr marL="342900" indent="-342900" algn="l">
              <a:lnSpc>
                <a:spcPct val="150000"/>
              </a:lnSpc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/>
            </a:pPr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</a:rPr>
              <a:t>Applies regex to detect 30+ tech skills</a:t>
            </a:r>
          </a:p>
          <a:p>
            <a:pPr marL="342900" indent="-342900" algn="l">
              <a:lnSpc>
                <a:spcPct val="150000"/>
              </a:lnSpc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/>
            </a:pPr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</a:rPr>
              <a:t>Deduplicates and displays relevant skills</a:t>
            </a:r>
          </a:p>
          <a:p>
            <a:pPr marL="342900" indent="-342900" algn="l">
              <a:lnSpc>
                <a:spcPct val="150000"/>
              </a:lnSpc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/>
            </a:pPr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</a:rPr>
              <a:t>Feeds skills into the matching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232079" y="403772"/>
            <a:ext cx="545202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/>
              <a:t>Web Mining – RemoteOK &amp; Remotive.io</a:t>
            </a:r>
            <a:endParaRPr sz="3000"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232079" y="1792664"/>
            <a:ext cx="6148095" cy="2232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Scrapes job title, company, location, description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Uses BeautifulSoup for HTML parsing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Avoids duplicate and irrelevant jobs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Headers mimic real browsers to bypass blocks</a:t>
            </a:r>
          </a:p>
          <a:p>
            <a:pPr algn="l">
              <a:lnSpc>
                <a:spcPct val="150000"/>
              </a:lnSpc>
              <a:defRPr sz="2000"/>
            </a:pPr>
            <a:r>
              <a:rPr lang="en-US" sz="1800" dirty="0"/>
              <a:t>Limit: Top 70 jobs from each site</a:t>
            </a:r>
          </a:p>
        </p:txBody>
      </p:sp>
      <p:cxnSp>
        <p:nvCxnSpPr>
          <p:cNvPr id="216" name="Google Shape;216;p44"/>
          <p:cNvCxnSpPr>
            <a:cxnSpLocks/>
          </p:cNvCxnSpPr>
          <p:nvPr/>
        </p:nvCxnSpPr>
        <p:spPr>
          <a:xfrm>
            <a:off x="319779" y="372769"/>
            <a:ext cx="631477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 idx="4"/>
          </p:nvPr>
        </p:nvSpPr>
        <p:spPr>
          <a:xfrm>
            <a:off x="704743" y="610030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/>
              <a:t>Matching Algorithm</a:t>
            </a:r>
            <a:endParaRPr lang="en-US" sz="3000" dirty="0"/>
          </a:p>
        </p:txBody>
      </p:sp>
      <p:cxnSp>
        <p:nvCxnSpPr>
          <p:cNvPr id="222" name="Google Shape;222;p45"/>
          <p:cNvCxnSpPr>
            <a:cxnSpLocks/>
          </p:cNvCxnSpPr>
          <p:nvPr/>
        </p:nvCxnSpPr>
        <p:spPr>
          <a:xfrm>
            <a:off x="792443" y="579027"/>
            <a:ext cx="464583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26" name="Google Shape;226;p45"/>
          <p:cNvSpPr txBox="1">
            <a:spLocks noGrp="1"/>
          </p:cNvSpPr>
          <p:nvPr>
            <p:ph type="subTitle" idx="3"/>
          </p:nvPr>
        </p:nvSpPr>
        <p:spPr>
          <a:xfrm>
            <a:off x="704743" y="1778310"/>
            <a:ext cx="6507329" cy="2970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Compares resume skills to job descriptions</a:t>
            </a:r>
          </a:p>
          <a:p>
            <a:pPr marL="4000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Identifies skill intersections</a:t>
            </a:r>
          </a:p>
          <a:p>
            <a:pPr marL="4000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Calculates skill match percentage for each job</a:t>
            </a:r>
          </a:p>
          <a:p>
            <a:pPr marL="4000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Filters out jobs with 0% match</a:t>
            </a:r>
          </a:p>
          <a:p>
            <a:pPr marL="4000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Ranks remaining jobs by match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56"/>
          <p:cNvSpPr txBox="1">
            <a:spLocks noGrp="1"/>
          </p:cNvSpPr>
          <p:nvPr>
            <p:ph type="body" idx="1"/>
          </p:nvPr>
        </p:nvSpPr>
        <p:spPr>
          <a:xfrm>
            <a:off x="1808699" y="1135729"/>
            <a:ext cx="5526602" cy="3820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solidFill>
                  <a:schemeClr val="bg1"/>
                </a:solidFill>
              </a:rPr>
              <a:t>Upload resume and extract skills in real time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solidFill>
                  <a:schemeClr val="bg1"/>
                </a:solidFill>
              </a:rPr>
              <a:t>Click to scrape and match job listings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solidFill>
                  <a:schemeClr val="bg1"/>
                </a:solidFill>
              </a:rPr>
              <a:t>Display matched jobs in an interactive table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solidFill>
                  <a:schemeClr val="bg1"/>
                </a:solidFill>
              </a:rPr>
              <a:t>Includes job links, scores, and matched skills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solidFill>
                  <a:schemeClr val="bg1"/>
                </a:solidFill>
              </a:rPr>
              <a:t>Option to export matches as CSV</a:t>
            </a:r>
          </a:p>
        </p:txBody>
      </p:sp>
      <p:sp>
        <p:nvSpPr>
          <p:cNvPr id="2" name="Google Shape;221;p45">
            <a:extLst>
              <a:ext uri="{FF2B5EF4-FFF2-40B4-BE49-F238E27FC236}">
                <a16:creationId xmlns:a16="http://schemas.microsoft.com/office/drawing/2014/main" id="{4650292F-BD8D-8FE0-E96E-480FC89F8B49}"/>
              </a:ext>
            </a:extLst>
          </p:cNvPr>
          <p:cNvSpPr txBox="1">
            <a:spLocks/>
          </p:cNvSpPr>
          <p:nvPr/>
        </p:nvSpPr>
        <p:spPr>
          <a:xfrm>
            <a:off x="1935401" y="332009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kumimoji="0" lang="en-IN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 ExtraBold" panose="00000900000000000000" pitchFamily="2" charset="0"/>
                <a:ea typeface="+mj-ea"/>
                <a:cs typeface="+mj-cs"/>
              </a:rPr>
              <a:t>Streamlit Dashboard</a:t>
            </a:r>
            <a:endParaRPr lang="en-US" sz="3000" dirty="0">
              <a:solidFill>
                <a:schemeClr val="accent1"/>
              </a:solidFill>
              <a:latin typeface="Montserrat ExtraBold" panose="00000900000000000000" pitchFamily="2" charset="0"/>
            </a:endParaRPr>
          </a:p>
        </p:txBody>
      </p:sp>
      <p:cxnSp>
        <p:nvCxnSpPr>
          <p:cNvPr id="3" name="Google Shape;222;p45">
            <a:extLst>
              <a:ext uri="{FF2B5EF4-FFF2-40B4-BE49-F238E27FC236}">
                <a16:creationId xmlns:a16="http://schemas.microsoft.com/office/drawing/2014/main" id="{05A45D64-ABDF-FFFA-9D7D-9EE51A51C80B}"/>
              </a:ext>
            </a:extLst>
          </p:cNvPr>
          <p:cNvCxnSpPr>
            <a:cxnSpLocks/>
          </p:cNvCxnSpPr>
          <p:nvPr/>
        </p:nvCxnSpPr>
        <p:spPr>
          <a:xfrm>
            <a:off x="2023101" y="301006"/>
            <a:ext cx="525772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>
            <a:spLocks noGrp="1"/>
          </p:cNvSpPr>
          <p:nvPr>
            <p:ph type="title"/>
          </p:nvPr>
        </p:nvSpPr>
        <p:spPr>
          <a:xfrm>
            <a:off x="2636671" y="355641"/>
            <a:ext cx="5627305" cy="6550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/>
              <a:t>Challenges &amp; Limitations</a:t>
            </a:r>
            <a:endParaRPr sz="3000" dirty="0"/>
          </a:p>
        </p:txBody>
      </p:sp>
      <p:cxnSp>
        <p:nvCxnSpPr>
          <p:cNvPr id="366" name="Google Shape;366;p52"/>
          <p:cNvCxnSpPr>
            <a:cxnSpLocks/>
          </p:cNvCxnSpPr>
          <p:nvPr/>
        </p:nvCxnSpPr>
        <p:spPr>
          <a:xfrm>
            <a:off x="2772499" y="242143"/>
            <a:ext cx="555335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26;p45">
            <a:extLst>
              <a:ext uri="{FF2B5EF4-FFF2-40B4-BE49-F238E27FC236}">
                <a16:creationId xmlns:a16="http://schemas.microsoft.com/office/drawing/2014/main" id="{7422E40C-E17B-65F8-7D7D-271607211378}"/>
              </a:ext>
            </a:extLst>
          </p:cNvPr>
          <p:cNvSpPr txBox="1">
            <a:spLocks/>
          </p:cNvSpPr>
          <p:nvPr/>
        </p:nvSpPr>
        <p:spPr>
          <a:xfrm>
            <a:off x="2636671" y="983577"/>
            <a:ext cx="6507329" cy="3176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IN" sz="1800" dirty="0">
                <a:solidFill>
                  <a:schemeClr val="bg1"/>
                </a:solidFill>
                <a:latin typeface="Montserrat" panose="00000500000000000000" pitchFamily="2" charset="0"/>
              </a:rPr>
              <a:t>403 errors from aggressive scraping detected</a:t>
            </a:r>
          </a:p>
          <a:p>
            <a:pPr marL="285750" indent="-285750" algn="l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IN" sz="1800" dirty="0">
                <a:solidFill>
                  <a:schemeClr val="bg1"/>
                </a:solidFill>
                <a:latin typeface="Montserrat" panose="00000500000000000000" pitchFamily="2" charset="0"/>
              </a:rPr>
              <a:t>Inconsistent formatting in resumes (PDF vs DOCX)</a:t>
            </a:r>
          </a:p>
          <a:p>
            <a:pPr marL="285750" indent="-285750" algn="l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IN" sz="1800" dirty="0">
                <a:solidFill>
                  <a:schemeClr val="bg1"/>
                </a:solidFill>
                <a:latin typeface="Montserrat" panose="00000500000000000000" pitchFamily="2" charset="0"/>
              </a:rPr>
              <a:t>Limited job variety from single portal</a:t>
            </a:r>
          </a:p>
          <a:p>
            <a:pPr marL="285750" indent="-285750" algn="l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IN" sz="1800" dirty="0">
                <a:solidFill>
                  <a:schemeClr val="bg1"/>
                </a:solidFill>
                <a:latin typeface="Montserrat" panose="00000500000000000000" pitchFamily="2" charset="0"/>
              </a:rPr>
              <a:t>Regex misses context-based skills</a:t>
            </a:r>
          </a:p>
          <a:p>
            <a:pPr marL="285750" indent="-285750" algn="l">
              <a:lnSpc>
                <a:spcPct val="2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pPr>
            <a:r>
              <a:rPr lang="en-IN" sz="1800" dirty="0">
                <a:solidFill>
                  <a:schemeClr val="bg1"/>
                </a:solidFill>
                <a:latin typeface="Montserrat" panose="00000500000000000000" pitchFamily="2" charset="0"/>
              </a:rPr>
              <a:t>Deployment limitations for some environments</a:t>
            </a:r>
          </a:p>
        </p:txBody>
      </p:sp>
      <p:pic>
        <p:nvPicPr>
          <p:cNvPr id="5" name="Graphic 4" descr="Puzzle with solid fill">
            <a:extLst>
              <a:ext uri="{FF2B5EF4-FFF2-40B4-BE49-F238E27FC236}">
                <a16:creationId xmlns:a16="http://schemas.microsoft.com/office/drawing/2014/main" id="{A447C1D3-AAC6-90B3-ABAC-3C5FF2CFA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287" y="409503"/>
            <a:ext cx="914400" cy="914400"/>
          </a:xfrm>
          <a:prstGeom prst="rect">
            <a:avLst/>
          </a:prstGeom>
        </p:spPr>
      </p:pic>
      <p:pic>
        <p:nvPicPr>
          <p:cNvPr id="7" name="Graphic 6" descr="Playbook outline">
            <a:extLst>
              <a:ext uri="{FF2B5EF4-FFF2-40B4-BE49-F238E27FC236}">
                <a16:creationId xmlns:a16="http://schemas.microsoft.com/office/drawing/2014/main" id="{932B3F90-FC62-9AA6-B9CB-92BDB3A1D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1487" y="1485470"/>
            <a:ext cx="1285230" cy="1285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 idx="4"/>
          </p:nvPr>
        </p:nvSpPr>
        <p:spPr>
          <a:xfrm>
            <a:off x="595301" y="864412"/>
            <a:ext cx="2994108" cy="641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dirty="0"/>
              <a:t>Future Scope</a:t>
            </a:r>
            <a:endParaRPr sz="3000" dirty="0"/>
          </a:p>
        </p:txBody>
      </p:sp>
      <p:cxnSp>
        <p:nvCxnSpPr>
          <p:cNvPr id="234" name="Google Shape;234;p46"/>
          <p:cNvCxnSpPr>
            <a:cxnSpLocks/>
          </p:cNvCxnSpPr>
          <p:nvPr/>
        </p:nvCxnSpPr>
        <p:spPr>
          <a:xfrm>
            <a:off x="683001" y="833409"/>
            <a:ext cx="316710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0" name="Google Shape;240;p46"/>
          <p:cNvSpPr txBox="1">
            <a:spLocks noGrp="1"/>
          </p:cNvSpPr>
          <p:nvPr>
            <p:ph type="subTitle" idx="6"/>
          </p:nvPr>
        </p:nvSpPr>
        <p:spPr>
          <a:xfrm>
            <a:off x="595301" y="1682385"/>
            <a:ext cx="6719900" cy="2939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Add LinkedIn integration for richer resumes</a:t>
            </a:r>
          </a:p>
          <a:p>
            <a:pPr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Recommend skills to boost chances of landing a job</a:t>
            </a:r>
          </a:p>
          <a:p>
            <a:pPr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Use ML models to extract implied skills</a:t>
            </a:r>
          </a:p>
          <a:p>
            <a:pPr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Scrape more portals like Indeed or Hired</a:t>
            </a:r>
          </a:p>
          <a:p>
            <a:pPr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800" dirty="0"/>
              <a:t>Deploy as a microservice on cloud</a:t>
            </a:r>
          </a:p>
        </p:txBody>
      </p:sp>
      <p:sp>
        <p:nvSpPr>
          <p:cNvPr id="244" name="Google Shape;244;p46"/>
          <p:cNvSpPr/>
          <p:nvPr/>
        </p:nvSpPr>
        <p:spPr>
          <a:xfrm>
            <a:off x="7502230" y="1983198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6"/>
          <p:cNvSpPr/>
          <p:nvPr/>
        </p:nvSpPr>
        <p:spPr>
          <a:xfrm>
            <a:off x="7502230" y="2905255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6"/>
          <p:cNvSpPr/>
          <p:nvPr/>
        </p:nvSpPr>
        <p:spPr>
          <a:xfrm>
            <a:off x="7502230" y="3827312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46"/>
          <p:cNvSpPr/>
          <p:nvPr/>
        </p:nvSpPr>
        <p:spPr>
          <a:xfrm>
            <a:off x="7632582" y="3964612"/>
            <a:ext cx="423884" cy="409986"/>
          </a:xfrm>
          <a:custGeom>
            <a:avLst/>
            <a:gdLst/>
            <a:ahLst/>
            <a:cxnLst/>
            <a:rect l="l" t="t" r="r" b="b"/>
            <a:pathLst>
              <a:path w="11407" h="11033" extrusionOk="0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46"/>
          <p:cNvGrpSpPr/>
          <p:nvPr/>
        </p:nvGrpSpPr>
        <p:grpSpPr>
          <a:xfrm>
            <a:off x="7681477" y="3035608"/>
            <a:ext cx="326106" cy="423908"/>
            <a:chOff x="3990517" y="3354173"/>
            <a:chExt cx="279559" cy="363402"/>
          </a:xfrm>
        </p:grpSpPr>
        <p:sp>
          <p:nvSpPr>
            <p:cNvPr id="249" name="Google Shape;249;p46"/>
            <p:cNvSpPr/>
            <p:nvPr/>
          </p:nvSpPr>
          <p:spPr>
            <a:xfrm>
              <a:off x="3990517" y="3354173"/>
              <a:ext cx="279559" cy="363402"/>
            </a:xfrm>
            <a:custGeom>
              <a:avLst/>
              <a:gdLst/>
              <a:ahLst/>
              <a:cxnLst/>
              <a:rect l="l" t="t" r="r" b="b"/>
              <a:pathLst>
                <a:path w="8776" h="11408" extrusionOk="0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6"/>
            <p:cNvSpPr/>
            <p:nvPr/>
          </p:nvSpPr>
          <p:spPr>
            <a:xfrm>
              <a:off x="4102009" y="3418680"/>
              <a:ext cx="36824" cy="37175"/>
            </a:xfrm>
            <a:custGeom>
              <a:avLst/>
              <a:gdLst/>
              <a:ahLst/>
              <a:cxnLst/>
              <a:rect l="l" t="t" r="r" b="b"/>
              <a:pathLst>
                <a:path w="1156" h="1167" extrusionOk="0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4083820" y="3615129"/>
              <a:ext cx="37175" cy="36824"/>
            </a:xfrm>
            <a:custGeom>
              <a:avLst/>
              <a:gdLst/>
              <a:ahLst/>
              <a:cxnLst/>
              <a:rect l="l" t="t" r="r" b="b"/>
              <a:pathLst>
                <a:path w="1167" h="1156" extrusionOk="0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" name="Graphic 12" descr="Top Hat with solid fill">
            <a:extLst>
              <a:ext uri="{FF2B5EF4-FFF2-40B4-BE49-F238E27FC236}">
                <a16:creationId xmlns:a16="http://schemas.microsoft.com/office/drawing/2014/main" id="{261B10C8-B7B8-CCF8-AE4A-AC64DE9C4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4040" y="2035050"/>
            <a:ext cx="580895" cy="580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59"/>
          <p:cNvSpPr txBox="1">
            <a:spLocks noGrp="1"/>
          </p:cNvSpPr>
          <p:nvPr>
            <p:ph type="subTitle" idx="1"/>
          </p:nvPr>
        </p:nvSpPr>
        <p:spPr>
          <a:xfrm>
            <a:off x="3923617" y="1275278"/>
            <a:ext cx="5330386" cy="3583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bg1"/>
                </a:solidFill>
              </a:rPr>
              <a:t>Successfully implemented end-to-end recommender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bg1"/>
                </a:solidFill>
              </a:rPr>
              <a:t>Combines resume parsing, web mining, and scoring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bg1"/>
                </a:solidFill>
              </a:rPr>
              <a:t>Streamlit provides a user-friendly interface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bg1"/>
                </a:solidFill>
              </a:rPr>
              <a:t>Improves job discovery through automation</a:t>
            </a:r>
          </a:p>
          <a:p>
            <a:pPr algn="l">
              <a:lnSpc>
                <a:spcPct val="150000"/>
              </a:lnSpc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sz="2000"/>
            </a:pPr>
            <a:r>
              <a:rPr lang="en-US" sz="1700" dirty="0">
                <a:solidFill>
                  <a:schemeClr val="bg1"/>
                </a:solidFill>
              </a:rPr>
              <a:t>Ready for expansion and real-world integration</a:t>
            </a:r>
          </a:p>
        </p:txBody>
      </p:sp>
      <p:sp>
        <p:nvSpPr>
          <p:cNvPr id="13" name="Google Shape;233;p46">
            <a:extLst>
              <a:ext uri="{FF2B5EF4-FFF2-40B4-BE49-F238E27FC236}">
                <a16:creationId xmlns:a16="http://schemas.microsoft.com/office/drawing/2014/main" id="{1A016821-05F0-1A4C-8F96-902CE3B4550D}"/>
              </a:ext>
            </a:extLst>
          </p:cNvPr>
          <p:cNvSpPr txBox="1">
            <a:spLocks/>
          </p:cNvSpPr>
          <p:nvPr/>
        </p:nvSpPr>
        <p:spPr>
          <a:xfrm>
            <a:off x="5191206" y="551525"/>
            <a:ext cx="2994108" cy="64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/>
              <a:buNone/>
              <a:defRPr sz="4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N" sz="3000" dirty="0">
                <a:solidFill>
                  <a:schemeClr val="accent1"/>
                </a:solidFill>
              </a:rPr>
              <a:t>Conclusion</a:t>
            </a:r>
          </a:p>
        </p:txBody>
      </p:sp>
      <p:cxnSp>
        <p:nvCxnSpPr>
          <p:cNvPr id="14" name="Google Shape;234;p46">
            <a:extLst>
              <a:ext uri="{FF2B5EF4-FFF2-40B4-BE49-F238E27FC236}">
                <a16:creationId xmlns:a16="http://schemas.microsoft.com/office/drawing/2014/main" id="{0956960A-B775-C6E8-6899-74BBFA821DF0}"/>
              </a:ext>
            </a:extLst>
          </p:cNvPr>
          <p:cNvCxnSpPr/>
          <p:nvPr/>
        </p:nvCxnSpPr>
        <p:spPr>
          <a:xfrm>
            <a:off x="5191206" y="551525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68"/>
          <p:cNvSpPr txBox="1">
            <a:spLocks noGrp="1"/>
          </p:cNvSpPr>
          <p:nvPr>
            <p:ph type="title"/>
          </p:nvPr>
        </p:nvSpPr>
        <p:spPr>
          <a:xfrm>
            <a:off x="1030094" y="2085234"/>
            <a:ext cx="4539991" cy="9730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THANK YOU!</a:t>
            </a:r>
            <a:endParaRPr sz="5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63260-F420-2F5C-2308-462623D15585}"/>
              </a:ext>
            </a:extLst>
          </p:cNvPr>
          <p:cNvSpPr/>
          <p:nvPr/>
        </p:nvSpPr>
        <p:spPr>
          <a:xfrm>
            <a:off x="639392" y="3410093"/>
            <a:ext cx="3568223" cy="973032"/>
          </a:xfrm>
          <a:prstGeom prst="rect">
            <a:avLst/>
          </a:prstGeom>
          <a:solidFill>
            <a:srgbClr val="0215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378</Words>
  <Application>Microsoft Office PowerPoint</Application>
  <PresentationFormat>On-screen Show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Montserrat ExtraLight</vt:lpstr>
      <vt:lpstr>Montserrat Medium</vt:lpstr>
      <vt:lpstr>Montserrat</vt:lpstr>
      <vt:lpstr>Montserrat ExtraBold</vt:lpstr>
      <vt:lpstr>Futuristic Background by Slidesgo</vt:lpstr>
      <vt:lpstr>Resume Based Job Recommender</vt:lpstr>
      <vt:lpstr>Problem Statement</vt:lpstr>
      <vt:lpstr>PowerPoint Presentation</vt:lpstr>
      <vt:lpstr>Technology Stack</vt:lpstr>
      <vt:lpstr>Resume Parsing Module</vt:lpstr>
      <vt:lpstr>Web Mining – RemoteOK &amp; Remotive.io</vt:lpstr>
      <vt:lpstr>Matching Algorithm</vt:lpstr>
      <vt:lpstr>PowerPoint Presentation</vt:lpstr>
      <vt:lpstr>Challenges &amp; Limitations</vt:lpstr>
      <vt:lpstr>Future Scope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Maruthi Chandra Sekhar Kunchala</cp:lastModifiedBy>
  <cp:revision>3</cp:revision>
  <dcterms:modified xsi:type="dcterms:W3CDTF">2025-05-03T23:42:12Z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2025-05-03T22:47:22Z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0fcdaeba-1682-4e30-a5ae-537fc2dae1c0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